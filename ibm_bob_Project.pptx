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90" r:id="rId2"/>
    <p:sldId id="291" r:id="rId3"/>
    <p:sldId id="292" r:id="rId4"/>
    <p:sldId id="293" r:id="rId5"/>
    <p:sldId id="294" r:id="rId6"/>
    <p:sldId id="295" r:id="rId7"/>
    <p:sldId id="296" r:id="rId8"/>
    <p:sldId id="310" r:id="rId9"/>
    <p:sldId id="311" r:id="rId10"/>
    <p:sldId id="312" r:id="rId11"/>
    <p:sldId id="313" r:id="rId12"/>
    <p:sldId id="316" r:id="rId13"/>
    <p:sldId id="298" r:id="rId14"/>
    <p:sldId id="299" r:id="rId15"/>
    <p:sldId id="317" r:id="rId16"/>
    <p:sldId id="301" r:id="rId17"/>
    <p:sldId id="302" r:id="rId18"/>
    <p:sldId id="303" r:id="rId19"/>
    <p:sldId id="306" r:id="rId20"/>
    <p:sldId id="304" r:id="rId21"/>
    <p:sldId id="315" r:id="rId22"/>
    <p:sldId id="305" r:id="rId23"/>
    <p:sldId id="307" r:id="rId24"/>
    <p:sldId id="314" r:id="rId25"/>
    <p:sldId id="308" r:id="rId26"/>
    <p:sldId id="309"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061" autoAdjust="0"/>
  </p:normalViewPr>
  <p:slideViewPr>
    <p:cSldViewPr snapToGrid="0">
      <p:cViewPr>
        <p:scale>
          <a:sx n="66" d="100"/>
          <a:sy n="66" d="100"/>
        </p:scale>
        <p:origin x="90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E1C0F14-DBDF-585A-E882-E2BF9647AFAD}"/>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E6D42C4-06DC-AB21-7112-CEF37FBD57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954B99EC-4B17-0504-2C36-7D6C91B3C0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9041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D158B3-CBD8-B5E4-6B76-365327AB855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10A094C-68D7-7C06-1676-FE4856468B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9E3ED5FD-8C53-1F8E-D724-51F89F8FBB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1075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508F664-A613-C49E-6808-FC67C002D8D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7AA89D1-36B1-C3BD-0BE6-28C6BBF7E4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C720C9B-1798-C39A-D4BB-62F3C60E86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0632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E1412E85-19BE-A4D2-3A42-8118C838244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19DA990-6141-A1FE-8846-7567C53993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78ED0245-E9EA-4854-4BC6-4C85ED3850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894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010730D-B05E-5843-B75E-442772C5CBD3}"/>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B1B9E69-D5B7-1EDE-695B-8A72F215EE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97573FA-7DA9-832E-211C-9E472EC402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6474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99EC48D-986D-5759-BB30-643EB8E645D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8B9E3A1-6FB8-9155-61D2-ACE1911D3D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030ED18-5AAE-8953-2668-AE98C5E83A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87273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680433" y="3648075"/>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1831769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Tanishka Kishor Dakare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tanishkadakare@gmail.com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9529130898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IN" sz="2400" dirty="0"/>
              <a:t>EdTech (Educational Technology) &amp; Human Resources (HR) Tech / Artificial Intelligence (Agentic AI)</a:t>
            </a: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a:t>Interview Trainer Agent</a:t>
            </a: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8" name="Picture 7">
            <a:extLst>
              <a:ext uri="{FF2B5EF4-FFF2-40B4-BE49-F238E27FC236}">
                <a16:creationId xmlns:a16="http://schemas.microsoft.com/office/drawing/2014/main" id="{D852C60A-7E53-7A71-2BAF-BBE490FF7DC4}"/>
              </a:ext>
            </a:extLst>
          </p:cNvPr>
          <p:cNvPicPr>
            <a:picLocks noChangeAspect="1"/>
          </p:cNvPicPr>
          <p:nvPr/>
        </p:nvPicPr>
        <p:blipFill>
          <a:blip r:embed="rId3"/>
          <a:srcRect b="18932"/>
          <a:stretch>
            <a:fillRect/>
          </a:stretch>
        </p:blipFill>
        <p:spPr>
          <a:xfrm>
            <a:off x="4005943" y="3607924"/>
            <a:ext cx="885371" cy="1141269"/>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62979"/>
          </a:xfrm>
          <a:prstGeom prst="rect">
            <a:avLst/>
          </a:prstGeom>
          <a:noFill/>
        </p:spPr>
        <p:txBody>
          <a:bodyPr wrap="square" rtlCol="0">
            <a:spAutoFit/>
          </a:bodyPr>
          <a:lstStyle/>
          <a:p>
            <a:r>
              <a:rPr lang="en-IN" b="1" dirty="0"/>
              <a:t>Problem Statement : Interview Trainer Agent</a:t>
            </a:r>
          </a:p>
          <a:p>
            <a:endParaRPr lang="en-IN" dirty="0"/>
          </a:p>
          <a:p>
            <a:r>
              <a:rPr lang="en-IN" b="1" dirty="0"/>
              <a:t>The Challenge</a:t>
            </a:r>
            <a:r>
              <a:rPr lang="en-IN" dirty="0"/>
              <a:t> Preparing for competitive job interviews is challenging because candidate preparation is often generic. Candidates lack access to tailored, role-specific evaluation, realistic industry expectations, and real-time feedback aligned with their experience level and targeted company.</a:t>
            </a:r>
          </a:p>
          <a:p>
            <a:endParaRPr lang="en-IN" dirty="0"/>
          </a:p>
          <a:p>
            <a:r>
              <a:rPr lang="en-IN" b="1" dirty="0"/>
              <a:t>The Objective</a:t>
            </a:r>
            <a:r>
              <a:rPr lang="en-IN" dirty="0"/>
              <a:t> Build an </a:t>
            </a:r>
            <a:r>
              <a:rPr lang="en-IN" b="1" dirty="0"/>
              <a:t>AI-powered Interview Trainer Agent</a:t>
            </a:r>
            <a:r>
              <a:rPr lang="en-IN" dirty="0"/>
              <a:t> using RAG (Retrieval-Augmented Generation) that delivers personalized mock interviews, realistic question sets, and intelligent performance evaluation. The solution should:</a:t>
            </a:r>
          </a:p>
          <a:p>
            <a:pPr marL="285750" lvl="0" indent="-285750">
              <a:buFont typeface="Arial" panose="020B0604020202020204" pitchFamily="34" charset="0"/>
              <a:buChar char="•"/>
            </a:pPr>
            <a:r>
              <a:rPr lang="en-IN" b="1" dirty="0"/>
              <a:t>Tailored Question Generation</a:t>
            </a:r>
            <a:r>
              <a:rPr lang="en-IN" dirty="0"/>
              <a:t> – Dynamically generate role-specific questions based on candidate profile, experience level, and target role.</a:t>
            </a:r>
          </a:p>
          <a:p>
            <a:pPr marL="285750" lvl="0" indent="-285750">
              <a:buFont typeface="Arial" panose="020B0604020202020204" pitchFamily="34" charset="0"/>
              <a:buChar char="•"/>
            </a:pPr>
            <a:r>
              <a:rPr lang="en-IN" b="1" dirty="0"/>
              <a:t>Knowledge RAG Retrieval</a:t>
            </a:r>
            <a:r>
              <a:rPr lang="en-IN" dirty="0"/>
              <a:t> – Retrieve industry standards, </a:t>
            </a:r>
            <a:r>
              <a:rPr lang="en-IN" dirty="0" err="1"/>
              <a:t>behavioral</a:t>
            </a:r>
            <a:r>
              <a:rPr lang="en-IN" dirty="0"/>
              <a:t> scenarios, technical expectations, and HR guidelines from recruitment knowledge bases.</a:t>
            </a:r>
          </a:p>
          <a:p>
            <a:pPr marL="285750" lvl="0" indent="-285750">
              <a:buFont typeface="Arial" panose="020B0604020202020204" pitchFamily="34" charset="0"/>
              <a:buChar char="•"/>
            </a:pPr>
            <a:r>
              <a:rPr lang="en-IN" b="1" dirty="0"/>
              <a:t>Technical &amp; Soft Skill Assessment</a:t>
            </a:r>
            <a:r>
              <a:rPr lang="en-IN" dirty="0"/>
              <a:t> – Evaluate candidate submissions across domain knowledge, communication, and response structure.</a:t>
            </a:r>
          </a:p>
          <a:p>
            <a:pPr marL="285750" lvl="0" indent="-285750">
              <a:buFont typeface="Arial" panose="020B0604020202020204" pitchFamily="34" charset="0"/>
              <a:buChar char="•"/>
            </a:pPr>
            <a:r>
              <a:rPr lang="en-IN" b="1" dirty="0"/>
              <a:t>Instant Feedback &amp; Scoring</a:t>
            </a:r>
            <a:r>
              <a:rPr lang="en-IN" dirty="0"/>
              <a:t> – Deliver automated scores (out of 10), strengths, areas of improvement, and detailed model answers.</a:t>
            </a:r>
          </a:p>
          <a:p>
            <a:pPr marL="285750" lvl="0" indent="-285750">
              <a:buFont typeface="Arial" panose="020B0604020202020204" pitchFamily="34" charset="0"/>
              <a:buChar char="•"/>
            </a:pPr>
            <a:r>
              <a:rPr lang="en-IN" b="1" dirty="0"/>
              <a:t>Multi-Agent System Capabilities</a:t>
            </a:r>
            <a:r>
              <a:rPr lang="en-IN" dirty="0"/>
              <a:t> –</a:t>
            </a:r>
          </a:p>
          <a:p>
            <a:pPr marL="285750" lvl="1" indent="-285750">
              <a:buFont typeface="Arial" panose="020B0604020202020204" pitchFamily="34" charset="0"/>
              <a:buChar char="•"/>
            </a:pPr>
            <a:r>
              <a:rPr lang="en-IN" b="1" dirty="0"/>
              <a:t>Question Generator Agent</a:t>
            </a:r>
            <a:r>
              <a:rPr lang="en-IN" dirty="0"/>
              <a:t> (fetches &amp; tailors questions using RAG)</a:t>
            </a:r>
          </a:p>
          <a:p>
            <a:pPr marL="285750" lvl="1" indent="-285750">
              <a:buFont typeface="Arial" panose="020B0604020202020204" pitchFamily="34" charset="0"/>
              <a:buChar char="•"/>
            </a:pPr>
            <a:r>
              <a:rPr lang="en-IN" b="1" dirty="0"/>
              <a:t>Evaluation Agent</a:t>
            </a:r>
            <a:r>
              <a:rPr lang="en-IN" dirty="0"/>
              <a:t> (scores responses &amp; provides detailed feedback)</a:t>
            </a:r>
          </a:p>
          <a:p>
            <a:pPr marL="285750" lvl="1" indent="-285750">
              <a:buFont typeface="Arial" panose="020B0604020202020204" pitchFamily="34" charset="0"/>
              <a:buChar char="•"/>
            </a:pPr>
            <a:r>
              <a:rPr lang="en-IN" b="1" dirty="0"/>
              <a:t>Analytics &amp; Progress Agent</a:t>
            </a:r>
            <a:r>
              <a:rPr lang="en-IN" dirty="0"/>
              <a:t> (tracks historical candidate performance)</a:t>
            </a:r>
          </a:p>
          <a:p>
            <a:pPr marL="285750" lvl="0" indent="-285750">
              <a:buFont typeface="Arial" panose="020B0604020202020204" pitchFamily="34" charset="0"/>
              <a:buChar char="•"/>
            </a:pPr>
            <a:r>
              <a:rPr lang="en-IN" b="1" dirty="0"/>
              <a:t>Visualization Dashboard</a:t>
            </a:r>
            <a:r>
              <a:rPr lang="en-IN" dirty="0"/>
              <a:t> – Present session scores, historical progress charts, and actionable improvement tips to build candidate confidence.</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9865786" cy="5262979"/>
          </a:xfrm>
          <a:prstGeom prst="rect">
            <a:avLst/>
          </a:prstGeom>
          <a:noFill/>
        </p:spPr>
        <p:txBody>
          <a:bodyPr wrap="square" rtlCol="0">
            <a:spAutoFit/>
          </a:bodyPr>
          <a:lstStyle/>
          <a:p>
            <a:endParaRPr lang="en-IN" dirty="0"/>
          </a:p>
          <a:p>
            <a:r>
              <a:rPr lang="en-IN" b="1" dirty="0"/>
              <a:t>Proposed Solution:</a:t>
            </a:r>
            <a:endParaRPr lang="en-IN" dirty="0"/>
          </a:p>
          <a:p>
            <a:pPr lvl="0"/>
            <a:br>
              <a:rPr lang="en-IN" dirty="0"/>
            </a:br>
            <a:endParaRPr lang="en-IN" dirty="0"/>
          </a:p>
          <a:p>
            <a:pPr lvl="0"/>
            <a:r>
              <a:rPr lang="en-IN" b="1" dirty="0"/>
              <a:t>Agentic Architecture Built on IBM Bob:</a:t>
            </a:r>
            <a:r>
              <a:rPr lang="en-IN" dirty="0"/>
              <a:t> Leverages IBM Bob and IBM Granite models to drive an end-to-end, multi-stage agentic workflow tailored for automated interview training and candidate evaluation.</a:t>
            </a:r>
          </a:p>
          <a:p>
            <a:pPr lvl="0"/>
            <a:endParaRPr lang="en-IN" dirty="0"/>
          </a:p>
          <a:p>
            <a:pPr lvl="0"/>
            <a:r>
              <a:rPr lang="en-IN" b="1" dirty="0"/>
              <a:t>Profile-Adaptive Question Generation:</a:t>
            </a:r>
            <a:r>
              <a:rPr lang="en-IN" dirty="0"/>
              <a:t> Automatically processes key candidate metadata (Name, Job Role, Experience Level, Target Company) to generate personalized, context-aware interview questions covering both technical concepts and soft skills.</a:t>
            </a:r>
          </a:p>
          <a:p>
            <a:pPr lvl="0"/>
            <a:endParaRPr lang="en-IN" dirty="0"/>
          </a:p>
          <a:p>
            <a:pPr lvl="0"/>
            <a:r>
              <a:rPr lang="en-IN" b="1" dirty="0"/>
              <a:t>RAG-Powered Knowledge Retrieval:</a:t>
            </a:r>
            <a:r>
              <a:rPr lang="en-IN" dirty="0"/>
              <a:t> Integrates Retrieval-Augmented Generation (RAG) capabilities to draw upon industry-specific question banks, standard HR guidelines, </a:t>
            </a:r>
            <a:r>
              <a:rPr lang="en-IN" dirty="0" err="1"/>
              <a:t>behavioral</a:t>
            </a:r>
            <a:r>
              <a:rPr lang="en-IN" dirty="0"/>
              <a:t> scenario templates, and ideal answer criteria.</a:t>
            </a:r>
            <a:br>
              <a:rPr lang="en-IN" dirty="0"/>
            </a:br>
            <a:endParaRPr lang="en-IN" dirty="0"/>
          </a:p>
          <a:p>
            <a:pPr lvl="0"/>
            <a:r>
              <a:rPr lang="en-IN" b="1" dirty="0"/>
              <a:t>Automated Answer Scoring &amp; Feedback Engine:</a:t>
            </a:r>
            <a:r>
              <a:rPr lang="en-IN" dirty="0"/>
              <a:t> Evaluates user text responses across structural clarity, keyword relevance, and technical accuracy—delivering an instant overall score (out of 10), identified strengths, and actionable improvement areas.</a:t>
            </a:r>
            <a:br>
              <a:rPr lang="en-IN" dirty="0"/>
            </a:br>
            <a:endParaRPr lang="en-IN" dirty="0"/>
          </a:p>
          <a:p>
            <a:pPr lvl="0"/>
            <a:r>
              <a:rPr lang="en-IN" b="1" dirty="0"/>
              <a:t>Interactive Benchmarking &amp; Model Answers:</a:t>
            </a:r>
            <a:r>
              <a:rPr lang="en-IN" dirty="0"/>
              <a:t> Provides benchmark model answers alongside candidate submissions to highlight key terminology, structured STAR-method expectations, and optimal response strategies.</a:t>
            </a:r>
          </a:p>
          <a:p>
            <a:pPr lvl="0"/>
            <a:endParaRPr lang="en-IN" dirty="0"/>
          </a:p>
          <a:p>
            <a:pPr lvl="0"/>
            <a:r>
              <a:rPr lang="en-IN" b="1" dirty="0"/>
              <a:t>Session Tracking &amp; Progress Analytics:</a:t>
            </a:r>
            <a:r>
              <a:rPr lang="en-IN" dirty="0"/>
              <a:t> Persists candidate attempts using local storage/SQLite, rendering visual historical trends via </a:t>
            </a:r>
            <a:r>
              <a:rPr lang="en-IN" dirty="0" err="1"/>
              <a:t>Streamlit</a:t>
            </a:r>
            <a:r>
              <a:rPr lang="en-IN" dirty="0"/>
              <a:t> dashboard analytics to measure score progression over time.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r>
              <a:rPr lang="en-IN" b="1" dirty="0"/>
              <a:t>IBM Bob platform</a:t>
            </a:r>
            <a:r>
              <a:rPr lang="en-IN" dirty="0"/>
              <a:t> - Used as the primary IDE and orchestration layer for rapid development, workspace environment management, and multi-agent workflow construction.</a:t>
            </a:r>
          </a:p>
          <a:p>
            <a:pPr lvl="0"/>
            <a:br>
              <a:rPr lang="en-IN" dirty="0"/>
            </a:br>
            <a:endParaRPr lang="en-IN" dirty="0"/>
          </a:p>
          <a:p>
            <a:pPr lvl="0"/>
            <a:r>
              <a:rPr lang="en-IN" b="1" dirty="0"/>
              <a:t>IBM Granite model</a:t>
            </a:r>
            <a:r>
              <a:rPr lang="en-IN" dirty="0"/>
              <a:t> - (</a:t>
            </a:r>
            <a:r>
              <a:rPr lang="en-IN" i="1" dirty="0"/>
              <a:t>ibm-granite-3-2-8b</a:t>
            </a:r>
            <a:r>
              <a:rPr lang="en-IN" dirty="0"/>
              <a:t>) - Drives natural language understanding, dynamic interview question synthesis, automated candidate response evaluation, and personalized feedback generation.</a:t>
            </a:r>
          </a:p>
          <a:p>
            <a:pPr lvl="0"/>
            <a:br>
              <a:rPr lang="en-IN" dirty="0"/>
            </a:br>
            <a:endParaRPr lang="en-IN" dirty="0"/>
          </a:p>
          <a:p>
            <a:pPr lvl="0"/>
            <a:r>
              <a:rPr lang="en-IN" b="1" dirty="0" err="1"/>
              <a:t>Streamlit</a:t>
            </a:r>
            <a:r>
              <a:rPr lang="en-IN" b="1" dirty="0"/>
              <a:t> Framework</a:t>
            </a:r>
            <a:r>
              <a:rPr lang="en-IN" dirty="0"/>
              <a:t> - Serves as the interactive web frontend, delivering real-time user input forms, candidate profile customization, custom CSS themes, and analytics dashboards.</a:t>
            </a:r>
          </a:p>
          <a:p>
            <a:pPr lvl="0"/>
            <a:br>
              <a:rPr lang="en-IN" dirty="0"/>
            </a:br>
            <a:endParaRPr lang="en-IN" dirty="0"/>
          </a:p>
          <a:p>
            <a:pPr lvl="0"/>
            <a:r>
              <a:rPr lang="en-IN" b="1" dirty="0"/>
              <a:t>RAG &amp; Knowledge Integration</a:t>
            </a:r>
            <a:r>
              <a:rPr lang="en-IN" dirty="0"/>
              <a:t> - Leverages Retrieval-Augmented Generation principles to dynamically pull role-specific criteria, domain questions, and </a:t>
            </a:r>
            <a:r>
              <a:rPr lang="en-IN" dirty="0" err="1"/>
              <a:t>behavioral</a:t>
            </a:r>
            <a:r>
              <a:rPr lang="en-IN" dirty="0"/>
              <a:t> expectations into model prompts.</a:t>
            </a:r>
          </a:p>
          <a:p>
            <a:pPr lvl="0"/>
            <a:br>
              <a:rPr lang="en-IN" dirty="0"/>
            </a:br>
            <a:endParaRPr lang="en-IN" dirty="0"/>
          </a:p>
          <a:p>
            <a:pPr lvl="0"/>
            <a:r>
              <a:rPr lang="en-IN" b="1" dirty="0"/>
              <a:t>IBM Cloud &amp; </a:t>
            </a:r>
            <a:r>
              <a:rPr lang="en-IN" b="1" dirty="0" err="1"/>
              <a:t>Streamlit</a:t>
            </a:r>
            <a:r>
              <a:rPr lang="en-IN" b="1" dirty="0"/>
              <a:t> Community Cloud</a:t>
            </a:r>
            <a:r>
              <a:rPr lang="en-IN" dirty="0"/>
              <a:t> - Provides scalable infrastructure and live public hosting to ensure reliable access, secure deployment, and global submission verification.</a:t>
            </a:r>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345DAD5-8827-8B68-FE71-BEF0E8C35B6F}"/>
              </a:ext>
            </a:extLst>
          </p:cNvPr>
          <p:cNvPicPr>
            <a:picLocks noChangeAspect="1"/>
          </p:cNvPicPr>
          <p:nvPr/>
        </p:nvPicPr>
        <p:blipFill>
          <a:blip r:embed="rId3"/>
          <a:stretch>
            <a:fillRect/>
          </a:stretch>
        </p:blipFill>
        <p:spPr>
          <a:xfrm>
            <a:off x="1249293" y="929618"/>
            <a:ext cx="9571703" cy="5381455"/>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B753C3C5-F007-4049-ED1E-554907459C0F}"/>
              </a:ext>
            </a:extLst>
          </p:cNvPr>
          <p:cNvPicPr>
            <a:picLocks noChangeAspect="1"/>
          </p:cNvPicPr>
          <p:nvPr/>
        </p:nvPicPr>
        <p:blipFill>
          <a:blip r:embed="rId3"/>
          <a:stretch>
            <a:fillRect/>
          </a:stretch>
        </p:blipFill>
        <p:spPr>
          <a:xfrm>
            <a:off x="1002891" y="1034060"/>
            <a:ext cx="9335729" cy="5248785"/>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AF7A05F8-6C8B-A51B-B050-0E9212E8B1F3}"/>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AAB01743-CD2D-F92D-BF92-DF9E50E45548}"/>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lang="en-US" sz="2400" b="1">
              <a:sym typeface="Times New Roman"/>
            </a:endParaRPr>
          </a:p>
        </p:txBody>
      </p:sp>
      <p:pic>
        <p:nvPicPr>
          <p:cNvPr id="7" name="Picture 6">
            <a:extLst>
              <a:ext uri="{FF2B5EF4-FFF2-40B4-BE49-F238E27FC236}">
                <a16:creationId xmlns:a16="http://schemas.microsoft.com/office/drawing/2014/main" id="{6171DDA0-EA22-612E-FE83-CB793B9D714F}"/>
              </a:ext>
            </a:extLst>
          </p:cNvPr>
          <p:cNvPicPr>
            <a:picLocks noChangeAspect="1"/>
          </p:cNvPicPr>
          <p:nvPr/>
        </p:nvPicPr>
        <p:blipFill>
          <a:blip r:embed="rId3"/>
          <a:stretch>
            <a:fillRect/>
          </a:stretch>
        </p:blipFill>
        <p:spPr>
          <a:xfrm>
            <a:off x="970299" y="1032387"/>
            <a:ext cx="9496044" cy="5338918"/>
          </a:xfrm>
          <a:prstGeom prst="rect">
            <a:avLst/>
          </a:prstGeom>
        </p:spPr>
      </p:pic>
    </p:spTree>
    <p:extLst>
      <p:ext uri="{BB962C8B-B14F-4D97-AF65-F5344CB8AC3E}">
        <p14:creationId xmlns:p14="http://schemas.microsoft.com/office/powerpoint/2010/main" val="1399488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EC248B62-90B0-31EF-B033-CE55CB376930}"/>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99445627-361C-FF92-A0E9-D6EFBDBAF34E}"/>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C6C0DABA-E8C3-C2ED-B297-CB32334EFFAA}"/>
              </a:ext>
            </a:extLst>
          </p:cNvPr>
          <p:cNvPicPr>
            <a:picLocks noChangeAspect="1"/>
          </p:cNvPicPr>
          <p:nvPr/>
        </p:nvPicPr>
        <p:blipFill>
          <a:blip r:embed="rId3"/>
          <a:stretch>
            <a:fillRect/>
          </a:stretch>
        </p:blipFill>
        <p:spPr>
          <a:xfrm>
            <a:off x="870155" y="961544"/>
            <a:ext cx="9912779" cy="5573217"/>
          </a:xfrm>
          <a:prstGeom prst="rect">
            <a:avLst/>
          </a:prstGeom>
        </p:spPr>
      </p:pic>
    </p:spTree>
    <p:extLst>
      <p:ext uri="{BB962C8B-B14F-4D97-AF65-F5344CB8AC3E}">
        <p14:creationId xmlns:p14="http://schemas.microsoft.com/office/powerpoint/2010/main" val="3929110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39EB1CD-538A-7DBD-F4E9-052D9D7D4303}"/>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E349D72E-AB17-BA23-03A8-4F38FE7B6316}"/>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80A5F36-5E5E-88D6-CBB1-267A0A75CDB7}"/>
              </a:ext>
            </a:extLst>
          </p:cNvPr>
          <p:cNvPicPr>
            <a:picLocks noChangeAspect="1"/>
          </p:cNvPicPr>
          <p:nvPr/>
        </p:nvPicPr>
        <p:blipFill>
          <a:blip r:embed="rId3"/>
          <a:stretch>
            <a:fillRect/>
          </a:stretch>
        </p:blipFill>
        <p:spPr>
          <a:xfrm>
            <a:off x="870155" y="1004051"/>
            <a:ext cx="9837174" cy="5530710"/>
          </a:xfrm>
          <a:prstGeom prst="rect">
            <a:avLst/>
          </a:prstGeom>
        </p:spPr>
      </p:pic>
    </p:spTree>
    <p:extLst>
      <p:ext uri="{BB962C8B-B14F-4D97-AF65-F5344CB8AC3E}">
        <p14:creationId xmlns:p14="http://schemas.microsoft.com/office/powerpoint/2010/main" val="535470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3221D92-1044-08AB-7B31-E72C3F63DB10}"/>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28B03A33-D1CB-E189-2BFF-63C16430879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24B37193-3F43-37B7-C085-9E55BDF352D1}"/>
              </a:ext>
            </a:extLst>
          </p:cNvPr>
          <p:cNvPicPr>
            <a:picLocks noChangeAspect="1"/>
          </p:cNvPicPr>
          <p:nvPr/>
        </p:nvPicPr>
        <p:blipFill>
          <a:blip r:embed="rId3"/>
          <a:stretch>
            <a:fillRect/>
          </a:stretch>
        </p:blipFill>
        <p:spPr>
          <a:xfrm>
            <a:off x="1150374" y="1034060"/>
            <a:ext cx="8981768" cy="5049779"/>
          </a:xfrm>
          <a:prstGeom prst="rect">
            <a:avLst/>
          </a:prstGeom>
        </p:spPr>
      </p:pic>
    </p:spTree>
    <p:extLst>
      <p:ext uri="{BB962C8B-B14F-4D97-AF65-F5344CB8AC3E}">
        <p14:creationId xmlns:p14="http://schemas.microsoft.com/office/powerpoint/2010/main" val="2428633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7F7BFD7F-A5BE-424E-04E4-955393FB45D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84A94F7B-91E0-E5F0-4040-54299340996D}"/>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56268A97-3D25-F6F6-B258-050745EF62FA}"/>
              </a:ext>
            </a:extLst>
          </p:cNvPr>
          <p:cNvPicPr>
            <a:picLocks noChangeAspect="1"/>
          </p:cNvPicPr>
          <p:nvPr/>
        </p:nvPicPr>
        <p:blipFill>
          <a:blip r:embed="rId3"/>
          <a:stretch>
            <a:fillRect/>
          </a:stretch>
        </p:blipFill>
        <p:spPr>
          <a:xfrm>
            <a:off x="1451333" y="1018099"/>
            <a:ext cx="8905875" cy="5057775"/>
          </a:xfrm>
          <a:prstGeom prst="rect">
            <a:avLst/>
          </a:prstGeom>
        </p:spPr>
      </p:pic>
    </p:spTree>
    <p:extLst>
      <p:ext uri="{BB962C8B-B14F-4D97-AF65-F5344CB8AC3E}">
        <p14:creationId xmlns:p14="http://schemas.microsoft.com/office/powerpoint/2010/main" val="4045007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7" name="Picture 6">
            <a:extLst>
              <a:ext uri="{FF2B5EF4-FFF2-40B4-BE49-F238E27FC236}">
                <a16:creationId xmlns:a16="http://schemas.microsoft.com/office/drawing/2014/main" id="{CCB43C23-DBDE-4E5C-5B0D-468232387F96}"/>
              </a:ext>
            </a:extLst>
          </p:cNvPr>
          <p:cNvPicPr>
            <a:picLocks noChangeAspect="1"/>
          </p:cNvPicPr>
          <p:nvPr/>
        </p:nvPicPr>
        <p:blipFill>
          <a:blip r:embed="rId3"/>
          <a:stretch>
            <a:fillRect/>
          </a:stretch>
        </p:blipFill>
        <p:spPr>
          <a:xfrm>
            <a:off x="1493499" y="652729"/>
            <a:ext cx="8889365" cy="6205271"/>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323987"/>
          </a:xfrm>
          <a:prstGeom prst="rect">
            <a:avLst/>
          </a:prstGeom>
          <a:noFill/>
        </p:spPr>
        <p:txBody>
          <a:bodyPr wrap="square" rtlCol="0">
            <a:spAutoFit/>
          </a:bodyPr>
          <a:lstStyle/>
          <a:p>
            <a:r>
              <a:rPr lang="en-IN" dirty="0"/>
              <a:t>Agentic AI enables the Interview Trainer Agent to function as an intelligent, autonomous system rather than a static question bank. Powered by IBM Granite models and RAG capabilities, it coordinates specialized workflows to deliver end-to-end candidate evaluation and feedback.</a:t>
            </a:r>
          </a:p>
          <a:p>
            <a:r>
              <a:rPr lang="en-IN" dirty="0"/>
              <a:t>Each internal sub-agent handles a targeted execution phase—such as retrieving role-specific interview standards, tailoring </a:t>
            </a:r>
            <a:r>
              <a:rPr lang="en-IN" dirty="0" err="1"/>
              <a:t>behavioral</a:t>
            </a:r>
            <a:r>
              <a:rPr lang="en-IN" dirty="0"/>
              <a:t> and technical questions, evaluating text responses against model benchmarks, and tracking candidate progress over time. This collaborative multi-agent approach ensures accurate, structured evaluation.</a:t>
            </a:r>
          </a:p>
          <a:p>
            <a:r>
              <a:rPr lang="en-IN" dirty="0"/>
              <a:t>Agentic AI brings high context-awareness by processing candidate profiles (Job Role, Experience Level, Target Company). It continuously adapts during practice sessions, updating recommendations based on individual answers and highlighting key skill gaps.</a:t>
            </a:r>
          </a:p>
          <a:p>
            <a:r>
              <a:rPr lang="en-IN" dirty="0"/>
              <a:t>Overall, Agentic AI transforms the system into a proactive, goal-driven career assistant, helping candidates refine response structures (like the STAR method) and maximize interview readiness.</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68F434-AD5B-06F4-1B27-FE1FA95626B6}"/>
              </a:ext>
            </a:extLst>
          </p:cNvPr>
          <p:cNvSpPr txBox="1"/>
          <p:nvPr/>
        </p:nvSpPr>
        <p:spPr>
          <a:xfrm>
            <a:off x="1117600" y="434332"/>
            <a:ext cx="6096000" cy="597279"/>
          </a:xfrm>
          <a:prstGeom prst="rect">
            <a:avLst/>
          </a:prstGeom>
          <a:noFill/>
        </p:spPr>
        <p:txBody>
          <a:bodyPr wrap="square">
            <a:spAutoFit/>
          </a:bodyPr>
          <a:lstStyle/>
          <a:p>
            <a:pPr>
              <a:lnSpc>
                <a:spcPct val="157142"/>
              </a:lnSpc>
              <a:buClr>
                <a:srgbClr val="051D3A"/>
              </a:buClr>
              <a:buSzPts val="3500"/>
            </a:pPr>
            <a:r>
              <a:rPr lang="en-US" sz="2400" b="1" dirty="0">
                <a:sym typeface="Times New Roman"/>
              </a:rPr>
              <a:t>Token Usage </a:t>
            </a:r>
          </a:p>
        </p:txBody>
      </p:sp>
      <p:pic>
        <p:nvPicPr>
          <p:cNvPr id="7" name="Picture 6">
            <a:extLst>
              <a:ext uri="{FF2B5EF4-FFF2-40B4-BE49-F238E27FC236}">
                <a16:creationId xmlns:a16="http://schemas.microsoft.com/office/drawing/2014/main" id="{C9383A5F-00DF-6D71-0959-5813A5A661EA}"/>
              </a:ext>
            </a:extLst>
          </p:cNvPr>
          <p:cNvPicPr>
            <a:picLocks noChangeAspect="1"/>
          </p:cNvPicPr>
          <p:nvPr/>
        </p:nvPicPr>
        <p:blipFill>
          <a:blip r:embed="rId2"/>
          <a:srcRect l="13513" t="18151" r="16182" b="9744"/>
          <a:stretch>
            <a:fillRect/>
          </a:stretch>
        </p:blipFill>
        <p:spPr>
          <a:xfrm>
            <a:off x="0" y="1988457"/>
            <a:ext cx="5588000" cy="3222172"/>
          </a:xfrm>
          <a:prstGeom prst="rect">
            <a:avLst/>
          </a:prstGeom>
        </p:spPr>
      </p:pic>
      <p:pic>
        <p:nvPicPr>
          <p:cNvPr id="9" name="Picture 8">
            <a:extLst>
              <a:ext uri="{FF2B5EF4-FFF2-40B4-BE49-F238E27FC236}">
                <a16:creationId xmlns:a16="http://schemas.microsoft.com/office/drawing/2014/main" id="{CF61B189-EB12-F31F-2743-E0E4E164B2D8}"/>
              </a:ext>
            </a:extLst>
          </p:cNvPr>
          <p:cNvPicPr>
            <a:picLocks noChangeAspect="1"/>
          </p:cNvPicPr>
          <p:nvPr/>
        </p:nvPicPr>
        <p:blipFill>
          <a:blip r:embed="rId3"/>
          <a:srcRect t="12273" r="26830" b="6102"/>
          <a:stretch>
            <a:fillRect/>
          </a:stretch>
        </p:blipFill>
        <p:spPr>
          <a:xfrm>
            <a:off x="6182070" y="1759856"/>
            <a:ext cx="5501930" cy="3450773"/>
          </a:xfrm>
          <a:prstGeom prst="rect">
            <a:avLst/>
          </a:prstGeom>
        </p:spPr>
      </p:pic>
      <p:sp>
        <p:nvSpPr>
          <p:cNvPr id="10" name="TextBox 9">
            <a:extLst>
              <a:ext uri="{FF2B5EF4-FFF2-40B4-BE49-F238E27FC236}">
                <a16:creationId xmlns:a16="http://schemas.microsoft.com/office/drawing/2014/main" id="{848C4FB1-4BBD-3E9E-FB20-F11DF37857C0}"/>
              </a:ext>
            </a:extLst>
          </p:cNvPr>
          <p:cNvSpPr txBox="1"/>
          <p:nvPr/>
        </p:nvSpPr>
        <p:spPr>
          <a:xfrm>
            <a:off x="2017486" y="1277257"/>
            <a:ext cx="761747" cy="307777"/>
          </a:xfrm>
          <a:prstGeom prst="rect">
            <a:avLst/>
          </a:prstGeom>
          <a:noFill/>
        </p:spPr>
        <p:txBody>
          <a:bodyPr wrap="none" rtlCol="0">
            <a:spAutoFit/>
          </a:bodyPr>
          <a:lstStyle/>
          <a:p>
            <a:r>
              <a:rPr lang="en-US" dirty="0"/>
              <a:t>Before </a:t>
            </a:r>
            <a:endParaRPr lang="en-IN" dirty="0"/>
          </a:p>
        </p:txBody>
      </p:sp>
      <p:sp>
        <p:nvSpPr>
          <p:cNvPr id="11" name="TextBox 10">
            <a:extLst>
              <a:ext uri="{FF2B5EF4-FFF2-40B4-BE49-F238E27FC236}">
                <a16:creationId xmlns:a16="http://schemas.microsoft.com/office/drawing/2014/main" id="{8EF96747-53C8-F2CC-4A32-0132D84D7731}"/>
              </a:ext>
            </a:extLst>
          </p:cNvPr>
          <p:cNvSpPr txBox="1"/>
          <p:nvPr/>
        </p:nvSpPr>
        <p:spPr>
          <a:xfrm>
            <a:off x="8548914" y="1436914"/>
            <a:ext cx="562975" cy="523220"/>
          </a:xfrm>
          <a:prstGeom prst="rect">
            <a:avLst/>
          </a:prstGeom>
          <a:noFill/>
        </p:spPr>
        <p:txBody>
          <a:bodyPr wrap="none" rtlCol="0">
            <a:spAutoFit/>
          </a:bodyPr>
          <a:lstStyle/>
          <a:p>
            <a:r>
              <a:rPr lang="en-US" dirty="0"/>
              <a:t>After</a:t>
            </a:r>
          </a:p>
          <a:p>
            <a:endParaRPr lang="en-IN" dirty="0"/>
          </a:p>
        </p:txBody>
      </p:sp>
    </p:spTree>
    <p:extLst>
      <p:ext uri="{BB962C8B-B14F-4D97-AF65-F5344CB8AC3E}">
        <p14:creationId xmlns:p14="http://schemas.microsoft.com/office/powerpoint/2010/main" val="4110500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AF57E629-B8EE-8E29-9AFC-1E458EE66FF7}"/>
              </a:ext>
            </a:extLst>
          </p:cNvPr>
          <p:cNvPicPr>
            <a:picLocks noChangeAspect="1"/>
          </p:cNvPicPr>
          <p:nvPr/>
        </p:nvPicPr>
        <p:blipFill>
          <a:blip r:embed="rId3"/>
          <a:srcRect t="9000" b="5996"/>
          <a:stretch>
            <a:fillRect/>
          </a:stretch>
        </p:blipFill>
        <p:spPr>
          <a:xfrm>
            <a:off x="595562" y="1208956"/>
            <a:ext cx="10377714" cy="4959615"/>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050EB9E6-EA78-892A-2A09-C137574E32F1}"/>
              </a:ext>
            </a:extLst>
          </p:cNvPr>
          <p:cNvPicPr>
            <a:picLocks noChangeAspect="1"/>
          </p:cNvPicPr>
          <p:nvPr/>
        </p:nvPicPr>
        <p:blipFill>
          <a:blip r:embed="rId3"/>
          <a:srcRect t="10670" b="5784"/>
          <a:stretch>
            <a:fillRect/>
          </a:stretch>
        </p:blipFill>
        <p:spPr>
          <a:xfrm>
            <a:off x="479818" y="838200"/>
            <a:ext cx="11232364" cy="5181600"/>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A5F103F5-FB51-6485-8B06-68611C9C27DE}"/>
              </a:ext>
            </a:extLst>
          </p:cNvPr>
          <p:cNvPicPr>
            <a:picLocks noChangeAspect="1"/>
          </p:cNvPicPr>
          <p:nvPr/>
        </p:nvPicPr>
        <p:blipFill>
          <a:blip r:embed="rId3"/>
          <a:srcRect t="11894" b="6645"/>
          <a:stretch>
            <a:fillRect/>
          </a:stretch>
        </p:blipFill>
        <p:spPr>
          <a:xfrm>
            <a:off x="409144" y="1044263"/>
            <a:ext cx="10829278" cy="4959709"/>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461640" y="517698"/>
            <a:ext cx="6444496" cy="704017"/>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a:t>The Wow Factor Behind Your Project</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CCC4EB8-9CD5-880E-C877-7809EE4F1E7D}"/>
              </a:ext>
            </a:extLst>
          </p:cNvPr>
          <p:cNvSpPr txBox="1"/>
          <p:nvPr/>
        </p:nvSpPr>
        <p:spPr>
          <a:xfrm>
            <a:off x="781665" y="1602793"/>
            <a:ext cx="10191611" cy="3539430"/>
          </a:xfrm>
          <a:prstGeom prst="rect">
            <a:avLst/>
          </a:prstGeom>
          <a:noFill/>
        </p:spPr>
        <p:txBody>
          <a:bodyPr wrap="square" rtlCol="0">
            <a:spAutoFit/>
          </a:bodyPr>
          <a:lstStyle/>
          <a:p>
            <a:pPr lvl="0"/>
            <a:r>
              <a:rPr lang="en-IN" b="1" dirty="0"/>
              <a:t>Dynamic Hyper-Personalized Scenario Generation:</a:t>
            </a:r>
            <a:r>
              <a:rPr lang="en-IN" dirty="0"/>
              <a:t> Unlike static practice tools, the agent crafts highly specific interview scenarios by dynamically synthesizing target company expectations, exact job roles, and experience levels in real time using IBM Granite models.</a:t>
            </a:r>
          </a:p>
          <a:p>
            <a:pPr lvl="0"/>
            <a:endParaRPr lang="en-IN" dirty="0"/>
          </a:p>
          <a:p>
            <a:pPr lvl="0"/>
            <a:endParaRPr lang="en-IN" dirty="0"/>
          </a:p>
          <a:p>
            <a:pPr lvl="0"/>
            <a:r>
              <a:rPr lang="en-IN" b="1" dirty="0"/>
              <a:t>RAG-Powered HR &amp; Technical Alignment:</a:t>
            </a:r>
            <a:r>
              <a:rPr lang="en-IN" dirty="0"/>
              <a:t> Integrates Retrieval-Augmented Generation to benchmark candidate responses against curated industry question banks, optimal STAR-method response frameworks, and domain-specific knowledge bases.</a:t>
            </a:r>
          </a:p>
          <a:p>
            <a:pPr lvl="0"/>
            <a:endParaRPr lang="en-IN" dirty="0"/>
          </a:p>
          <a:p>
            <a:pPr lvl="0"/>
            <a:endParaRPr lang="en-IN" dirty="0"/>
          </a:p>
          <a:p>
            <a:pPr lvl="0"/>
            <a:r>
              <a:rPr lang="en-IN" b="1" dirty="0"/>
              <a:t>Instant Multi-Metric Feedback &amp; Benchmarking:</a:t>
            </a:r>
            <a:r>
              <a:rPr lang="en-IN" dirty="0"/>
              <a:t> Evaluates candidate answers across technical accuracy, structure, and communication clarity—delivering a calculated numerical score alongside side-by-side model answer comparison for immediate skill gap closure.</a:t>
            </a:r>
          </a:p>
          <a:p>
            <a:pPr lvl="0"/>
            <a:endParaRPr lang="en-IN" dirty="0"/>
          </a:p>
          <a:p>
            <a:pPr lvl="0"/>
            <a:endParaRPr lang="en-IN" dirty="0"/>
          </a:p>
          <a:p>
            <a:pPr lvl="0"/>
            <a:r>
              <a:rPr lang="en-IN" b="1" dirty="0"/>
              <a:t>Fail-Safe Offline Mode:</a:t>
            </a:r>
            <a:r>
              <a:rPr lang="en-IN" dirty="0"/>
              <a:t> Features an intelligent dual-mode fallback architecture that guarantees full functionality and response output during live evaluations without depending on external API uptime or keys</a:t>
            </a:r>
          </a:p>
        </p:txBody>
      </p:sp>
    </p:spTree>
    <p:extLst>
      <p:ext uri="{BB962C8B-B14F-4D97-AF65-F5344CB8AC3E}">
        <p14:creationId xmlns:p14="http://schemas.microsoft.com/office/powerpoint/2010/main" val="74002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11277" y="484632"/>
            <a:ext cx="7389139"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899652" y="1207009"/>
            <a:ext cx="11179572" cy="4401205"/>
          </a:xfrm>
          <a:prstGeom prst="rect">
            <a:avLst/>
          </a:prstGeom>
          <a:noFill/>
        </p:spPr>
        <p:txBody>
          <a:bodyPr wrap="square" rtlCol="0">
            <a:spAutoFit/>
          </a:bodyPr>
          <a:lstStyle/>
          <a:p>
            <a:r>
              <a:rPr lang="en-IN" dirty="0"/>
              <a:t>The proposed Interview Trainer Agent stands out by combining </a:t>
            </a:r>
            <a:r>
              <a:rPr lang="en-IN" b="1" dirty="0"/>
              <a:t>Agentic AI, RAG, and personalization</a:t>
            </a:r>
            <a:r>
              <a:rPr lang="en-IN" dirty="0"/>
              <a:t> into a single intelligent system.</a:t>
            </a:r>
          </a:p>
          <a:p>
            <a:endParaRPr lang="en-IN" dirty="0"/>
          </a:p>
          <a:p>
            <a:pPr lvl="0"/>
            <a:r>
              <a:rPr lang="en-IN" b="1" dirty="0"/>
              <a:t>Multi-Agent Intelligence</a:t>
            </a:r>
            <a:r>
              <a:rPr lang="en-IN" dirty="0"/>
              <a:t> – Instead of a single chatbot, multiple specialized agents (Question Generator, Evaluator, Analytics Agent) collaborate to deliver structured and context-aware interview guidance.</a:t>
            </a:r>
          </a:p>
          <a:p>
            <a:pPr lvl="0"/>
            <a:endParaRPr lang="en-IN" dirty="0"/>
          </a:p>
          <a:p>
            <a:pPr lvl="0"/>
            <a:r>
              <a:rPr lang="en-IN" b="1" dirty="0"/>
              <a:t>RAG-Based Accuracy</a:t>
            </a:r>
            <a:r>
              <a:rPr lang="en-IN" dirty="0"/>
              <a:t> – Integrates real-time retrieval from curated recruitment databases with AI generation, reducing generic responses and ensuring industry-aligned questions.</a:t>
            </a:r>
          </a:p>
          <a:p>
            <a:pPr lvl="0"/>
            <a:endParaRPr lang="en-IN" dirty="0"/>
          </a:p>
          <a:p>
            <a:pPr lvl="0"/>
            <a:r>
              <a:rPr lang="en-IN" b="1" dirty="0"/>
              <a:t>Hyper-Personalization</a:t>
            </a:r>
            <a:r>
              <a:rPr lang="en-IN" dirty="0"/>
              <a:t> – Tailors question sets and evaluation rubrics based on target company, specific job role, experience level, and candidate profile.</a:t>
            </a:r>
          </a:p>
          <a:p>
            <a:pPr lvl="0"/>
            <a:endParaRPr lang="en-IN" dirty="0"/>
          </a:p>
          <a:p>
            <a:pPr lvl="0"/>
            <a:r>
              <a:rPr lang="en-IN" b="1" dirty="0"/>
              <a:t>Real-Time Feedback Loop</a:t>
            </a:r>
            <a:r>
              <a:rPr lang="en-IN" dirty="0"/>
              <a:t> – Continuously evaluates candidate answers, generating numerical scores, detailed strengths, and STAR-method improvements.</a:t>
            </a:r>
          </a:p>
          <a:p>
            <a:pPr lvl="0"/>
            <a:endParaRPr lang="en-IN" dirty="0"/>
          </a:p>
          <a:p>
            <a:pPr lvl="0"/>
            <a:r>
              <a:rPr lang="en-IN" b="1" dirty="0"/>
              <a:t>STAR &amp; Domain Alignment</a:t>
            </a:r>
            <a:r>
              <a:rPr lang="en-IN" dirty="0"/>
              <a:t> – Goes beyond standard QA by evaluating response structure, technical depth, and soft skills against proven interview frameworks.</a:t>
            </a:r>
          </a:p>
          <a:p>
            <a:pPr lvl="0"/>
            <a:endParaRPr lang="en-IN" dirty="0"/>
          </a:p>
          <a:p>
            <a:pPr lvl="0"/>
            <a:r>
              <a:rPr lang="en-IN" b="1" dirty="0"/>
              <a:t>Scalable &amp; Enterprise-Ready</a:t>
            </a:r>
            <a:r>
              <a:rPr lang="en-IN" dirty="0"/>
              <a:t> – Built with </a:t>
            </a:r>
            <a:r>
              <a:rPr lang="en-IN" b="1" dirty="0"/>
              <a:t>IBM Bob</a:t>
            </a:r>
            <a:r>
              <a:rPr lang="en-IN" dirty="0"/>
              <a:t> using </a:t>
            </a:r>
            <a:r>
              <a:rPr lang="en-IN" b="1" dirty="0"/>
              <a:t>IBM Granite models</a:t>
            </a:r>
            <a:r>
              <a:rPr lang="en-IN" dirty="0"/>
              <a:t>, ensuring high reliability, fast processing, and enterprise governance.</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D64937E-C9AD-3FA1-53E2-2ECBF2E4909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F71D9F5B-66BF-4840-40E0-2713F56C5E64}"/>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1231BA06-8686-7E6D-BCEC-6F33D9928770}"/>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lgn="just">
              <a:buFont typeface="+mj-lt"/>
              <a:buAutoNum type="arabicPeriod"/>
            </a:pPr>
            <a:r>
              <a:rPr lang="en-IN" sz="2000" b="1" dirty="0"/>
              <a:t>Real-Time Audio/Video Analysis &amp; Mock Interviews –</a:t>
            </a:r>
            <a:r>
              <a:rPr lang="en-IN" sz="2000" dirty="0"/>
              <a:t> The system can be enhanced with speech-to-text and computer vision capabilities to </a:t>
            </a:r>
            <a:r>
              <a:rPr lang="en-IN" sz="2000" dirty="0" err="1"/>
              <a:t>analyze</a:t>
            </a:r>
            <a:r>
              <a:rPr lang="en-IN" sz="2000" dirty="0"/>
              <a:t> verbal delivery, tone, speaking pace, body language, and facial expressions during mock interview sessions. This will enable the Interview Trainer Agent to provide holistic feedback on soft skills and executive presence alongside textual accuracy.</a:t>
            </a:r>
          </a:p>
          <a:p>
            <a:pPr marL="457200" indent="-457200" algn="just">
              <a:buFont typeface="+mj-lt"/>
              <a:buAutoNum type="arabicPeriod"/>
            </a:pPr>
            <a:endParaRPr lang="en-IN" sz="2000" dirty="0"/>
          </a:p>
          <a:p>
            <a:pPr marL="457200" indent="-457200" algn="just">
              <a:buFont typeface="+mj-lt"/>
              <a:buAutoNum type="arabicPeriod"/>
            </a:pPr>
            <a:r>
              <a:rPr lang="en-IN" sz="2000" b="1" dirty="0"/>
              <a:t>AI-Powered Multilingual Support &amp; Localized HR Frameworks –</a:t>
            </a:r>
            <a:r>
              <a:rPr lang="en-IN" sz="2000" dirty="0"/>
              <a:t> Integrating multilingual capabilities will allow job seekers to practice interviews in regional languages or train for specific international corporate standards. The RAG pipeline can be expanded to include global and regional hiring practices, culture-fit criteria, and regional employment compliance standards.</a:t>
            </a:r>
          </a:p>
          <a:p>
            <a:endParaRPr lang="en-IN" sz="2000"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62824FC8-468E-9721-80FC-A47F7498A5E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7824849-EE7D-AFB8-0509-308E6B45F8A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101CCF1-C200-0AAD-AC73-FC772B0983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73899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074533" y="2695955"/>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4BA0FCC1-05A4-633D-BAC1-E82BF823A2B1}"/>
              </a:ext>
            </a:extLst>
          </p:cNvPr>
          <p:cNvSpPr txBox="1"/>
          <p:nvPr/>
        </p:nvSpPr>
        <p:spPr>
          <a:xfrm>
            <a:off x="1218724" y="1333505"/>
            <a:ext cx="6096000" cy="307777"/>
          </a:xfrm>
          <a:prstGeom prst="rect">
            <a:avLst/>
          </a:prstGeom>
          <a:noFill/>
        </p:spPr>
        <p:txBody>
          <a:bodyPr wrap="square">
            <a:spAutoFit/>
          </a:bodyPr>
          <a:lstStyle/>
          <a:p>
            <a:r>
              <a:rPr lang="en-IN" dirty="0"/>
              <a:t>https://github.com/tanishkadakare/Interview_Trainer_Agent</a:t>
            </a:r>
          </a:p>
        </p:txBody>
      </p:sp>
      <p:sp>
        <p:nvSpPr>
          <p:cNvPr id="4" name="TextBox 3">
            <a:extLst>
              <a:ext uri="{FF2B5EF4-FFF2-40B4-BE49-F238E27FC236}">
                <a16:creationId xmlns:a16="http://schemas.microsoft.com/office/drawing/2014/main" id="{569EC18D-8BA2-AA5D-A595-6F2086C76D61}"/>
              </a:ext>
            </a:extLst>
          </p:cNvPr>
          <p:cNvSpPr txBox="1"/>
          <p:nvPr/>
        </p:nvSpPr>
        <p:spPr>
          <a:xfrm>
            <a:off x="1227941" y="2179419"/>
            <a:ext cx="1061509" cy="523220"/>
          </a:xfrm>
          <a:prstGeom prst="rect">
            <a:avLst/>
          </a:prstGeom>
          <a:noFill/>
        </p:spPr>
        <p:txBody>
          <a:bodyPr wrap="none" rtlCol="0">
            <a:spAutoFit/>
          </a:bodyPr>
          <a:lstStyle/>
          <a:p>
            <a:r>
              <a:rPr lang="en-US" dirty="0"/>
              <a:t>Project link</a:t>
            </a:r>
          </a:p>
          <a:p>
            <a:endParaRPr lang="en-IN" dirty="0"/>
          </a:p>
        </p:txBody>
      </p:sp>
      <p:sp>
        <p:nvSpPr>
          <p:cNvPr id="6" name="TextBox 5">
            <a:extLst>
              <a:ext uri="{FF2B5EF4-FFF2-40B4-BE49-F238E27FC236}">
                <a16:creationId xmlns:a16="http://schemas.microsoft.com/office/drawing/2014/main" id="{9503A665-6C63-CF68-272D-56734FD0F3AA}"/>
              </a:ext>
            </a:extLst>
          </p:cNvPr>
          <p:cNvSpPr txBox="1"/>
          <p:nvPr/>
        </p:nvSpPr>
        <p:spPr>
          <a:xfrm>
            <a:off x="1227941" y="2791842"/>
            <a:ext cx="6705600" cy="307777"/>
          </a:xfrm>
          <a:prstGeom prst="rect">
            <a:avLst/>
          </a:prstGeom>
          <a:noFill/>
        </p:spPr>
        <p:txBody>
          <a:bodyPr wrap="square">
            <a:spAutoFit/>
          </a:bodyPr>
          <a:lstStyle/>
          <a:p>
            <a:r>
              <a:rPr lang="en-IN" dirty="0"/>
              <a:t>https://interviewtraineragent-cudagkhy4jdksgdkncajqg.streamlit.app/</a:t>
            </a:r>
          </a:p>
        </p:txBody>
      </p:sp>
    </p:spTree>
    <p:extLst>
      <p:ext uri="{BB962C8B-B14F-4D97-AF65-F5344CB8AC3E}">
        <p14:creationId xmlns:p14="http://schemas.microsoft.com/office/powerpoint/2010/main" val="4040412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Skills build profile screen shot</a:t>
            </a:r>
          </a:p>
          <a:p>
            <a:pPr algn="ctr"/>
            <a:endParaRPr lang="en-US" dirty="0"/>
          </a:p>
        </p:txBody>
      </p:sp>
      <p:pic>
        <p:nvPicPr>
          <p:cNvPr id="5" name="Picture 4">
            <a:extLst>
              <a:ext uri="{FF2B5EF4-FFF2-40B4-BE49-F238E27FC236}">
                <a16:creationId xmlns:a16="http://schemas.microsoft.com/office/drawing/2014/main" id="{610847BC-B4AA-AF95-AB45-95AC8DC4553F}"/>
              </a:ext>
            </a:extLst>
          </p:cNvPr>
          <p:cNvPicPr>
            <a:picLocks noChangeAspect="1"/>
          </p:cNvPicPr>
          <p:nvPr/>
        </p:nvPicPr>
        <p:blipFill>
          <a:blip r:embed="rId2"/>
          <a:stretch>
            <a:fillRect/>
          </a:stretch>
        </p:blipFill>
        <p:spPr>
          <a:xfrm>
            <a:off x="1471159" y="1568222"/>
            <a:ext cx="6059110" cy="3758521"/>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AB062-BFE8-81E7-7937-7FF058CAE37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6244D29-5E1E-8A40-F4D0-25314C4B736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72F5D597-02A1-615E-08C1-B7E75280E4A4}"/>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53558074-7A36-94CE-81F7-8458A6B2856C}"/>
              </a:ext>
            </a:extLst>
          </p:cNvPr>
          <p:cNvPicPr>
            <a:picLocks noChangeAspect="1"/>
          </p:cNvPicPr>
          <p:nvPr/>
        </p:nvPicPr>
        <p:blipFill>
          <a:blip r:embed="rId2"/>
          <a:srcRect l="19682" t="14905" r="21143" b="6241"/>
          <a:stretch>
            <a:fillRect/>
          </a:stretch>
        </p:blipFill>
        <p:spPr>
          <a:xfrm>
            <a:off x="2148114" y="1151726"/>
            <a:ext cx="7103122" cy="5321646"/>
          </a:xfrm>
          <a:prstGeom prst="rect">
            <a:avLst/>
          </a:prstGeom>
        </p:spPr>
      </p:pic>
    </p:spTree>
    <p:extLst>
      <p:ext uri="{BB962C8B-B14F-4D97-AF65-F5344CB8AC3E}">
        <p14:creationId xmlns:p14="http://schemas.microsoft.com/office/powerpoint/2010/main" val="201880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A89C1D50-E917-13DB-B020-80A6B3784278}"/>
              </a:ext>
            </a:extLst>
          </p:cNvPr>
          <p:cNvPicPr>
            <a:picLocks noChangeAspect="1"/>
          </p:cNvPicPr>
          <p:nvPr/>
        </p:nvPicPr>
        <p:blipFill>
          <a:blip r:embed="rId2"/>
          <a:srcRect t="23902" r="41548" b="9186"/>
          <a:stretch>
            <a:fillRect/>
          </a:stretch>
        </p:blipFill>
        <p:spPr>
          <a:xfrm>
            <a:off x="880194" y="1200580"/>
            <a:ext cx="9114971" cy="586625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1382</Words>
  <Application>Microsoft Office PowerPoint</Application>
  <PresentationFormat>Widescreen</PresentationFormat>
  <Paragraphs>131</Paragraphs>
  <Slides>26</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42316_Tanishka_25_26</cp:lastModifiedBy>
  <cp:revision>5</cp:revision>
  <dcterms:created xsi:type="dcterms:W3CDTF">2025-07-08T05:06:56Z</dcterms:created>
  <dcterms:modified xsi:type="dcterms:W3CDTF">2026-09-11T13:13:20Z</dcterms:modified>
</cp:coreProperties>
</file>